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sldIdLst>
    <p:sldId id="256" r:id="rId5"/>
    <p:sldId id="2146847054" r:id="rId6"/>
    <p:sldId id="262" r:id="rId7"/>
    <p:sldId id="263" r:id="rId8"/>
    <p:sldId id="265" r:id="rId9"/>
    <p:sldId id="266" r:id="rId10"/>
    <p:sldId id="267" r:id="rId11"/>
    <p:sldId id="268" r:id="rId12"/>
    <p:sldId id="2146847055" r:id="rId13"/>
    <p:sldId id="269" r:id="rId14"/>
    <p:sldId id="2146847056"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26-06-2026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6/26/2026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6/26/2026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6/26/2026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6/26/2026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6/26/2026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6/26/2026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6/26/2026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6/26/2026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6/26/2026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6/26/2026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6/26/2026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6/26/2026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developer.mozilla.org/" TargetMode="External"/><Relationship Id="rId3" Type="http://schemas.openxmlformats.org/officeDocument/2006/relationships/hyperlink" Target="https://fastapi.tiangolo.com/" TargetMode="External"/><Relationship Id="rId7" Type="http://schemas.openxmlformats.org/officeDocument/2006/relationships/hyperlink" Target="https://www.uvicorn.org/" TargetMode="External"/><Relationship Id="rId2" Type="http://schemas.openxmlformats.org/officeDocument/2006/relationships/hyperlink" Target="https://platform.openai.com/docs" TargetMode="External"/><Relationship Id="rId1" Type="http://schemas.openxmlformats.org/officeDocument/2006/relationships/slideLayout" Target="../slideLayouts/slideLayout2.xml"/><Relationship Id="rId6" Type="http://schemas.openxmlformats.org/officeDocument/2006/relationships/hyperlink" Target="https://www.sqlite.org/docs.html" TargetMode="External"/><Relationship Id="rId5" Type="http://schemas.openxmlformats.org/officeDocument/2006/relationships/hyperlink" Target="https://jwt.io/introduction" TargetMode="External"/><Relationship Id="rId4" Type="http://schemas.openxmlformats.org/officeDocument/2006/relationships/hyperlink" Target="https://docs.python.org/3/"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endParaRPr lang="en-US" b="1" dirty="0">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117529" y="4586365"/>
            <a:ext cx="7980183" cy="163121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a:t>
            </a:r>
          </a:p>
          <a:p>
            <a:pPr marL="457200" indent="-457200">
              <a:buAutoNum type="arabicPeriod"/>
            </a:pPr>
            <a:r>
              <a:rPr lang="en-US" sz="2000" b="1" dirty="0">
                <a:solidFill>
                  <a:schemeClr val="accent1">
                    <a:lumMod val="75000"/>
                  </a:schemeClr>
                </a:solidFill>
                <a:latin typeface="Arial"/>
                <a:cs typeface="Arial"/>
              </a:rPr>
              <a:t>College Name-</a:t>
            </a:r>
          </a:p>
          <a:p>
            <a:pPr marL="457200" indent="-457200">
              <a:buAutoNum type="arabicPeriod"/>
            </a:pPr>
            <a:r>
              <a:rPr lang="en-US" sz="2000" b="1" dirty="0">
                <a:solidFill>
                  <a:schemeClr val="accent1">
                    <a:lumMod val="75000"/>
                  </a:schemeClr>
                </a:solidFill>
                <a:latin typeface="Arial"/>
                <a:cs typeface="Arial"/>
              </a:rPr>
              <a:t>Department </a:t>
            </a:r>
          </a:p>
          <a:p>
            <a:r>
              <a:rPr lang="en-US" sz="2000" b="1" dirty="0">
                <a:solidFill>
                  <a:schemeClr val="accent1">
                    <a:lumMod val="75000"/>
                  </a:schemeClr>
                </a:solidFill>
                <a:latin typeface="Arial"/>
                <a:cs typeface="Arial"/>
              </a:rPr>
              <a:t>4.   </a:t>
            </a:r>
            <a:r>
              <a:rPr lang="en-US" sz="2000" b="1" dirty="0" err="1">
                <a:solidFill>
                  <a:schemeClr val="accent1">
                    <a:lumMod val="75000"/>
                  </a:schemeClr>
                </a:solidFill>
                <a:latin typeface="Arial"/>
                <a:cs typeface="Arial"/>
              </a:rPr>
              <a:t>Aaicte</a:t>
            </a:r>
            <a:r>
              <a:rPr lang="en-US" sz="2000" b="1" dirty="0">
                <a:solidFill>
                  <a:schemeClr val="accent1">
                    <a:lumMod val="75000"/>
                  </a:schemeClr>
                </a:solidFill>
                <a:latin typeface="Arial"/>
                <a:cs typeface="Arial"/>
              </a:rPr>
              <a:t> id</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a:latin typeface="Arial"/>
                <a:ea typeface="+mn-lt"/>
                <a:cs typeface="Arial"/>
              </a:rPr>
              <a:t>  </a:t>
            </a:r>
            <a:endParaRPr lang="en-US">
              <a:latin typeface="Arial"/>
              <a:cs typeface="Arial"/>
            </a:endParaRPr>
          </a:p>
          <a:p>
            <a:r>
              <a:rPr lang="en-US" sz="2000" b="1">
                <a:latin typeface="Arial"/>
                <a:ea typeface="+mn-lt"/>
                <a:cs typeface="Arial"/>
              </a:rPr>
              <a:t>Problem Statement </a:t>
            </a:r>
            <a:r>
              <a:rPr lang="en-US" sz="2000">
                <a:latin typeface="Arial"/>
                <a:ea typeface="+mn-lt"/>
                <a:cs typeface="Arial"/>
              </a:rPr>
              <a:t>(Should not include solution)</a:t>
            </a:r>
            <a:endParaRPr lang="en-US">
              <a:latin typeface="Arial"/>
              <a:cs typeface="Arial"/>
            </a:endParaRPr>
          </a:p>
          <a:p>
            <a:r>
              <a:rPr lang="en-US" sz="2000" b="1">
                <a:latin typeface="Arial"/>
                <a:ea typeface="+mn-lt"/>
                <a:cs typeface="Arial"/>
              </a:rPr>
              <a:t>Proposed System/Solution</a:t>
            </a:r>
            <a:endParaRPr lang="en-US">
              <a:latin typeface="Arial"/>
              <a:cs typeface="Arial"/>
            </a:endParaRPr>
          </a:p>
          <a:p>
            <a:r>
              <a:rPr lang="en-US" sz="2000" b="1">
                <a:latin typeface="Arial"/>
                <a:ea typeface="+mn-lt"/>
                <a:cs typeface="Calibri"/>
              </a:rPr>
              <a:t>System </a:t>
            </a:r>
            <a:r>
              <a:rPr lang="en-US" sz="2000" b="1">
                <a:latin typeface="Arial"/>
                <a:ea typeface="+mn-lt"/>
                <a:cs typeface="+mn-lt"/>
              </a:rPr>
              <a:t>Development Approach </a:t>
            </a:r>
            <a:r>
              <a:rPr lang="en-US" sz="2000">
                <a:latin typeface="Arial"/>
                <a:ea typeface="+mn-lt"/>
                <a:cs typeface="+mn-lt"/>
              </a:rPr>
              <a:t>(Technology Used) </a:t>
            </a:r>
            <a:endParaRPr lang="en-US">
              <a:latin typeface="Arial"/>
              <a:ea typeface="+mn-lt"/>
              <a:cs typeface="+mn-lt"/>
            </a:endParaRPr>
          </a:p>
          <a:p>
            <a:r>
              <a:rPr lang="en-US" sz="2000" b="1">
                <a:latin typeface="Arial"/>
                <a:ea typeface="+mn-lt"/>
                <a:cs typeface="+mn-lt"/>
              </a:rPr>
              <a:t>Algorithm &amp; Deployment  </a:t>
            </a:r>
            <a:endParaRPr lang="en-US">
              <a:latin typeface="Arial"/>
              <a:cs typeface="Calibri"/>
            </a:endParaRPr>
          </a:p>
          <a:p>
            <a:r>
              <a:rPr lang="en-US" sz="2000" b="1">
                <a:latin typeface="Arial"/>
                <a:ea typeface="+mn-lt"/>
                <a:cs typeface="Arial"/>
              </a:rPr>
              <a:t>Result</a:t>
            </a:r>
          </a:p>
          <a:p>
            <a:r>
              <a:rPr lang="en-US" sz="2000" b="1">
                <a:latin typeface="Arial"/>
                <a:ea typeface="+mn-lt"/>
                <a:cs typeface="Arial"/>
              </a:rPr>
              <a:t>Conclusion</a:t>
            </a:r>
            <a:endParaRPr lang="en-US">
              <a:latin typeface="Arial"/>
              <a:cs typeface="Arial"/>
            </a:endParaRPr>
          </a:p>
          <a:p>
            <a:r>
              <a:rPr lang="en-US" sz="2000" b="1">
                <a:latin typeface="Arial"/>
                <a:ea typeface="+mn-lt"/>
                <a:cs typeface="Arial"/>
              </a:rPr>
              <a:t>Future Scope</a:t>
            </a:r>
          </a:p>
          <a:p>
            <a:r>
              <a:rPr lang="en-US" sz="2000" b="1">
                <a:latin typeface="Arial"/>
                <a:ea typeface="+mn-lt"/>
                <a:cs typeface="Arial"/>
              </a:rPr>
              <a:t>References</a:t>
            </a:r>
            <a:endParaRPr lang="en-US">
              <a:latin typeface="Arial"/>
              <a:cs typeface="Arial"/>
            </a:endParaRPr>
          </a:p>
          <a:p>
            <a:endParaRPr lang="en-US">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lstStyle/>
          <a:p>
            <a:pPr marL="0" indent="0">
              <a:buNone/>
            </a:pPr>
            <a:endParaRPr lang="en-IN" b="1" dirty="0"/>
          </a:p>
          <a:p>
            <a:r>
              <a:rPr lang="en-IN" dirty="0"/>
              <a:t>In today's educational environment, students often struggle to balance listening to lectures and taking detailed notes at the same time. As a result, important concepts, explanations, and examples may be missed, leading to incomplete or inaccurate study materials. Manual note-taking is not only time-consuming but also reduces students' ability to fully concentrate on the lecture.</a:t>
            </a:r>
          </a:p>
          <a:p>
            <a:r>
              <a:rPr lang="en-IN" dirty="0"/>
              <a:t>Additionally, reviewing lengthy lecture recordings to prepare notes is inefficient and requires significant effort. Students also spend extra time creating revision materials such as summaries, quizzes, and flashcards, which can delay the learning process.</a:t>
            </a:r>
          </a:p>
          <a:p>
            <a:r>
              <a:rPr lang="en-IN" dirty="0"/>
              <a:t>To address these challenges, an intelligent system is needed that can automatically convert lecture audio into accurate text using Speech-to-Text technology and leverage Generative AI to produce structured study notes, interactive quizzes, and flashcards. Such a solution enhances learning efficiency, improves knowledge retention, and enables students to focus more on understanding concepts rather than manually documenting them.</a:t>
            </a:r>
          </a:p>
          <a:p>
            <a:pPr marL="0" indent="0">
              <a:buNone/>
            </a:pPr>
            <a:endParaRPr lang="en-IN"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3" name="TextBox 2">
            <a:extLst>
              <a:ext uri="{FF2B5EF4-FFF2-40B4-BE49-F238E27FC236}">
                <a16:creationId xmlns:a16="http://schemas.microsoft.com/office/drawing/2014/main" id="{EBD70250-48B4-BB39-C324-217CA3DBE604}"/>
              </a:ext>
            </a:extLst>
          </p:cNvPr>
          <p:cNvSpPr txBox="1"/>
          <p:nvPr/>
        </p:nvSpPr>
        <p:spPr>
          <a:xfrm>
            <a:off x="581192" y="1386349"/>
            <a:ext cx="9536202" cy="4493538"/>
          </a:xfrm>
          <a:prstGeom prst="rect">
            <a:avLst/>
          </a:prstGeom>
          <a:noFill/>
        </p:spPr>
        <p:txBody>
          <a:bodyPr wrap="square" rtlCol="0">
            <a:spAutoFit/>
          </a:bodyPr>
          <a:lstStyle/>
          <a:p>
            <a:r>
              <a:rPr lang="en-IN" sz="1300" b="1" dirty="0"/>
              <a:t>1. Audio Lecture Upload</a:t>
            </a:r>
          </a:p>
          <a:p>
            <a:r>
              <a:rPr lang="en-IN" sz="1300" dirty="0"/>
              <a:t>Users can upload recorded lecture audio through the web application.</a:t>
            </a:r>
          </a:p>
          <a:p>
            <a:r>
              <a:rPr lang="en-IN" sz="1300" dirty="0"/>
              <a:t>Supports secure storage and processing of lecture files.</a:t>
            </a:r>
          </a:p>
          <a:p>
            <a:r>
              <a:rPr lang="en-IN" sz="1300" b="1" dirty="0"/>
              <a:t>2. Speech-to-Text Conversion</a:t>
            </a:r>
          </a:p>
          <a:p>
            <a:r>
              <a:rPr lang="en-IN" sz="1300" dirty="0"/>
              <a:t>Converts lecture audio into accurate text using AI-powered speech recognition.</a:t>
            </a:r>
          </a:p>
          <a:p>
            <a:r>
              <a:rPr lang="en-IN" sz="1300" dirty="0"/>
              <a:t>Creates a searchable transcript of the lecture.</a:t>
            </a:r>
          </a:p>
          <a:p>
            <a:r>
              <a:rPr lang="en-IN" sz="1300" b="1" dirty="0"/>
              <a:t>3. AI-Based Notes Generation</a:t>
            </a:r>
          </a:p>
          <a:p>
            <a:r>
              <a:rPr lang="en-IN" sz="1300" dirty="0"/>
              <a:t>Uses Generative AI to summarize the transcript.</a:t>
            </a:r>
          </a:p>
          <a:p>
            <a:r>
              <a:rPr lang="en-IN" sz="1300" dirty="0"/>
              <a:t>Produces concise, structured, and easy-to-understand study notes.</a:t>
            </a:r>
          </a:p>
          <a:p>
            <a:r>
              <a:rPr lang="en-IN" sz="1300" b="1" dirty="0"/>
              <a:t>4. Quiz Generation</a:t>
            </a:r>
          </a:p>
          <a:p>
            <a:r>
              <a:rPr lang="en-IN" sz="1300" dirty="0"/>
              <a:t>Automatically generates multiple-choice questions from the lecture.</a:t>
            </a:r>
          </a:p>
          <a:p>
            <a:r>
              <a:rPr lang="en-IN" sz="1300" dirty="0"/>
              <a:t>Helps students assess their understanding.</a:t>
            </a:r>
          </a:p>
          <a:p>
            <a:r>
              <a:rPr lang="en-IN" sz="1300" b="1" dirty="0"/>
              <a:t>5. Flashcard Generation</a:t>
            </a:r>
          </a:p>
          <a:p>
            <a:r>
              <a:rPr lang="en-IN" sz="1300" dirty="0"/>
              <a:t>Creates question-and-answer flashcards from key concepts.</a:t>
            </a:r>
          </a:p>
          <a:p>
            <a:r>
              <a:rPr lang="en-IN" sz="1300" dirty="0"/>
              <a:t>Supports quick revision and memory retention.</a:t>
            </a:r>
          </a:p>
          <a:p>
            <a:r>
              <a:rPr lang="en-IN" sz="1300" b="1" dirty="0"/>
              <a:t>6. AI Chat Assistant</a:t>
            </a:r>
          </a:p>
          <a:p>
            <a:r>
              <a:rPr lang="en-IN" sz="1300" dirty="0"/>
              <a:t>Allows students to ask questions about the lecture.</a:t>
            </a:r>
          </a:p>
          <a:p>
            <a:r>
              <a:rPr lang="en-IN" sz="1300" dirty="0"/>
              <a:t>Provides context-aware answers based on the transcript.</a:t>
            </a:r>
          </a:p>
          <a:p>
            <a:r>
              <a:rPr lang="en-IN" sz="1300" b="1" dirty="0"/>
              <a:t>7. Search &amp; History</a:t>
            </a:r>
          </a:p>
          <a:p>
            <a:r>
              <a:rPr lang="en-IN" sz="1300" dirty="0"/>
              <a:t>Stores lecture transcripts and generated content.</a:t>
            </a:r>
          </a:p>
          <a:p>
            <a:r>
              <a:rPr lang="en-IN" sz="1300" dirty="0"/>
              <a:t>Enables users to search previous lectures and access study materials anytime.</a:t>
            </a:r>
          </a:p>
          <a:p>
            <a:endParaRPr lang="en-IN" sz="1300"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6" name="TextBox 5">
            <a:extLst>
              <a:ext uri="{FF2B5EF4-FFF2-40B4-BE49-F238E27FC236}">
                <a16:creationId xmlns:a16="http://schemas.microsoft.com/office/drawing/2014/main" id="{2335A709-3A25-AEE9-8326-31603AECD136}"/>
              </a:ext>
            </a:extLst>
          </p:cNvPr>
          <p:cNvSpPr txBox="1"/>
          <p:nvPr/>
        </p:nvSpPr>
        <p:spPr>
          <a:xfrm>
            <a:off x="581192" y="964079"/>
            <a:ext cx="7531509" cy="5893921"/>
          </a:xfrm>
          <a:prstGeom prst="rect">
            <a:avLst/>
          </a:prstGeom>
          <a:noFill/>
        </p:spPr>
        <p:txBody>
          <a:bodyPr wrap="square" rtlCol="0">
            <a:spAutoFit/>
          </a:bodyPr>
          <a:lstStyle/>
          <a:p>
            <a:endParaRPr lang="en-IN" sz="1300" b="1" dirty="0"/>
          </a:p>
          <a:p>
            <a:r>
              <a:rPr lang="en-IN" sz="1300" b="1" dirty="0"/>
              <a:t>1. User Authentication</a:t>
            </a:r>
          </a:p>
          <a:p>
            <a:r>
              <a:rPr lang="en-IN" sz="1300" dirty="0"/>
              <a:t>User registers and logs into the application.</a:t>
            </a:r>
          </a:p>
          <a:p>
            <a:r>
              <a:rPr lang="en-IN" sz="1300" dirty="0"/>
              <a:t>JWT-based authentication ensures secure access.</a:t>
            </a:r>
          </a:p>
          <a:p>
            <a:r>
              <a:rPr lang="en-IN" sz="1300" b="1" dirty="0"/>
              <a:t>2. Audio Upload</a:t>
            </a:r>
          </a:p>
          <a:p>
            <a:r>
              <a:rPr lang="en-IN" sz="1300" dirty="0"/>
              <a:t>User uploads a lecture audio file.</a:t>
            </a:r>
          </a:p>
          <a:p>
            <a:r>
              <a:rPr lang="en-IN" sz="1300" dirty="0"/>
              <a:t>The file is securely stored on the server.</a:t>
            </a:r>
          </a:p>
          <a:p>
            <a:r>
              <a:rPr lang="en-IN" sz="1300" b="1" dirty="0"/>
              <a:t>3. Speech-to-Text Processing</a:t>
            </a:r>
          </a:p>
          <a:p>
            <a:r>
              <a:rPr lang="en-IN" sz="1300" dirty="0"/>
              <a:t>The uploaded audio is processed using Speech-to-Text AI.</a:t>
            </a:r>
          </a:p>
          <a:p>
            <a:r>
              <a:rPr lang="en-IN" sz="1300" dirty="0"/>
              <a:t>The system generates an accurate text transcript.</a:t>
            </a:r>
          </a:p>
          <a:p>
            <a:r>
              <a:rPr lang="en-IN" sz="1300" b="1" dirty="0"/>
              <a:t>4. AI Content Generation</a:t>
            </a:r>
          </a:p>
          <a:p>
            <a:r>
              <a:rPr lang="en-IN" sz="1300" dirty="0"/>
              <a:t>The transcript is </a:t>
            </a:r>
            <a:r>
              <a:rPr lang="en-IN" sz="1300" dirty="0" err="1"/>
              <a:t>analyzed</a:t>
            </a:r>
            <a:r>
              <a:rPr lang="en-IN" sz="1300" dirty="0"/>
              <a:t> using Generative AI.</a:t>
            </a:r>
          </a:p>
          <a:p>
            <a:r>
              <a:rPr lang="en-IN" sz="1300" dirty="0"/>
              <a:t>The system generates:</a:t>
            </a:r>
          </a:p>
          <a:p>
            <a:pPr lvl="1"/>
            <a:r>
              <a:rPr lang="en-IN" sz="1300" dirty="0"/>
              <a:t>Study Notes</a:t>
            </a:r>
          </a:p>
          <a:p>
            <a:pPr lvl="1"/>
            <a:r>
              <a:rPr lang="en-IN" sz="1300" dirty="0"/>
              <a:t>Quiz Questions</a:t>
            </a:r>
          </a:p>
          <a:p>
            <a:pPr lvl="1"/>
            <a:r>
              <a:rPr lang="en-IN" sz="1300" dirty="0"/>
              <a:t>Flashcards</a:t>
            </a:r>
          </a:p>
          <a:p>
            <a:r>
              <a:rPr lang="en-IN" sz="1300" b="1" dirty="0"/>
              <a:t>5. Data Storage</a:t>
            </a:r>
          </a:p>
          <a:p>
            <a:r>
              <a:rPr lang="en-IN" sz="1300" dirty="0"/>
              <a:t>Transcripts and AI-generated content are stored in the database.</a:t>
            </a:r>
          </a:p>
          <a:p>
            <a:r>
              <a:rPr lang="en-IN" sz="1300" dirty="0"/>
              <a:t>Users can access their lecture history at any time.</a:t>
            </a:r>
          </a:p>
          <a:p>
            <a:r>
              <a:rPr lang="en-IN" sz="1300" b="1" dirty="0"/>
              <a:t>6. Search &amp; AI Chat</a:t>
            </a:r>
          </a:p>
          <a:p>
            <a:r>
              <a:rPr lang="en-IN" sz="1300" dirty="0"/>
              <a:t>Users can search lecture transcripts using keywords.</a:t>
            </a:r>
          </a:p>
          <a:p>
            <a:r>
              <a:rPr lang="en-IN" sz="1300" dirty="0"/>
              <a:t>AI chatbot answers questions based on the lecture content.</a:t>
            </a:r>
          </a:p>
          <a:p>
            <a:r>
              <a:rPr lang="en-IN" sz="1300" b="1" dirty="0"/>
              <a:t>7. Output</a:t>
            </a:r>
          </a:p>
          <a:p>
            <a:r>
              <a:rPr lang="en-IN" sz="1300" dirty="0"/>
              <a:t>Students receive:</a:t>
            </a:r>
          </a:p>
          <a:p>
            <a:pPr lvl="1"/>
            <a:r>
              <a:rPr lang="en-IN" sz="1300" dirty="0"/>
              <a:t>Searchable Transcript</a:t>
            </a:r>
          </a:p>
          <a:p>
            <a:pPr lvl="1"/>
            <a:r>
              <a:rPr lang="en-IN" sz="1300" dirty="0"/>
              <a:t>Concise Study Notes</a:t>
            </a:r>
          </a:p>
          <a:p>
            <a:pPr lvl="1"/>
            <a:r>
              <a:rPr lang="en-IN" sz="1300" dirty="0"/>
              <a:t>Flashcards</a:t>
            </a:r>
          </a:p>
          <a:p>
            <a:pPr lvl="1"/>
            <a:r>
              <a:rPr lang="en-IN" sz="1300" dirty="0"/>
              <a:t>AI-based Question Answering</a:t>
            </a:r>
          </a:p>
          <a:p>
            <a:endParaRPr lang="en-IN" sz="1300" dirty="0"/>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7" name="TextBox 6">
            <a:extLst>
              <a:ext uri="{FF2B5EF4-FFF2-40B4-BE49-F238E27FC236}">
                <a16:creationId xmlns:a16="http://schemas.microsoft.com/office/drawing/2014/main" id="{C8D131E3-1D38-F36D-1C2B-EB6CCDDAF16A}"/>
              </a:ext>
            </a:extLst>
          </p:cNvPr>
          <p:cNvSpPr txBox="1"/>
          <p:nvPr/>
        </p:nvSpPr>
        <p:spPr>
          <a:xfrm>
            <a:off x="581192" y="1350439"/>
            <a:ext cx="5541132" cy="5293757"/>
          </a:xfrm>
          <a:prstGeom prst="rect">
            <a:avLst/>
          </a:prstGeom>
          <a:noFill/>
        </p:spPr>
        <p:txBody>
          <a:bodyPr wrap="none" rtlCol="0">
            <a:spAutoFit/>
          </a:bodyPr>
          <a:lstStyle/>
          <a:p>
            <a:r>
              <a:rPr lang="en-IN" sz="1300" b="1" dirty="0"/>
              <a:t>Algorithm &amp; Deployment</a:t>
            </a:r>
          </a:p>
          <a:p>
            <a:r>
              <a:rPr lang="en-IN" sz="1300" b="1" dirty="0"/>
              <a:t>Algorithm</a:t>
            </a:r>
          </a:p>
          <a:p>
            <a:r>
              <a:rPr lang="en-IN" sz="1300" b="1" dirty="0"/>
              <a:t>Step 1:</a:t>
            </a:r>
            <a:r>
              <a:rPr lang="en-IN" sz="1300" dirty="0"/>
              <a:t> User logs into the system.</a:t>
            </a:r>
          </a:p>
          <a:p>
            <a:r>
              <a:rPr lang="en-IN" sz="1300" b="1" dirty="0"/>
              <a:t>Step 2:</a:t>
            </a:r>
            <a:r>
              <a:rPr lang="en-IN" sz="1300" dirty="0"/>
              <a:t> Upload the lecture audio file.</a:t>
            </a:r>
          </a:p>
          <a:p>
            <a:r>
              <a:rPr lang="en-IN" sz="1300" b="1" dirty="0"/>
              <a:t>Step 3:</a:t>
            </a:r>
            <a:r>
              <a:rPr lang="en-IN" sz="1300" dirty="0"/>
              <a:t> Validate and securely store the audio.</a:t>
            </a:r>
          </a:p>
          <a:p>
            <a:r>
              <a:rPr lang="en-IN" sz="1300" b="1" dirty="0"/>
              <a:t>Step 4:</a:t>
            </a:r>
            <a:r>
              <a:rPr lang="en-IN" sz="1300" dirty="0"/>
              <a:t> Convert the audio into text using Speech-to-Text AI.</a:t>
            </a:r>
          </a:p>
          <a:p>
            <a:r>
              <a:rPr lang="en-IN" sz="1300" b="1" dirty="0"/>
              <a:t>Step 5:</a:t>
            </a:r>
            <a:r>
              <a:rPr lang="en-IN" sz="1300" dirty="0"/>
              <a:t> Generate structured study notes using Generative AI.</a:t>
            </a:r>
          </a:p>
          <a:p>
            <a:r>
              <a:rPr lang="en-IN" sz="1300" b="1" dirty="0"/>
              <a:t>Step 6:</a:t>
            </a:r>
            <a:r>
              <a:rPr lang="en-IN" sz="1300" dirty="0"/>
              <a:t> Create quizzes and flashcards from the transcript.</a:t>
            </a:r>
          </a:p>
          <a:p>
            <a:r>
              <a:rPr lang="en-IN" sz="1300" b="1" dirty="0"/>
              <a:t>Step 7:</a:t>
            </a:r>
            <a:r>
              <a:rPr lang="en-IN" sz="1300" dirty="0"/>
              <a:t> Store transcripts and AI-generated content in the database.</a:t>
            </a:r>
          </a:p>
          <a:p>
            <a:r>
              <a:rPr lang="en-IN" sz="1300" b="1" dirty="0"/>
              <a:t>Step 8:</a:t>
            </a:r>
            <a:r>
              <a:rPr lang="en-IN" sz="1300" dirty="0"/>
              <a:t> Display notes, quizzes, flashcards, and AI chat responses to the user.</a:t>
            </a:r>
          </a:p>
          <a:p>
            <a:br>
              <a:rPr lang="en-IN" sz="1300" dirty="0"/>
            </a:br>
            <a:endParaRPr lang="en-IN" sz="1300" dirty="0"/>
          </a:p>
          <a:p>
            <a:r>
              <a:rPr lang="en-IN" sz="1300" b="1" dirty="0"/>
              <a:t>Deployment</a:t>
            </a:r>
          </a:p>
          <a:p>
            <a:r>
              <a:rPr lang="en-IN" sz="1300" b="1" dirty="0"/>
              <a:t>Development Environment</a:t>
            </a:r>
          </a:p>
          <a:p>
            <a:r>
              <a:rPr lang="en-IN" sz="1300" dirty="0"/>
              <a:t>Frontend: HTML, CSS, JavaScript</a:t>
            </a:r>
          </a:p>
          <a:p>
            <a:r>
              <a:rPr lang="en-IN" sz="1300" dirty="0"/>
              <a:t>Backend: </a:t>
            </a:r>
            <a:r>
              <a:rPr lang="en-IN" sz="1300" dirty="0" err="1"/>
              <a:t>FastAPI</a:t>
            </a:r>
            <a:r>
              <a:rPr lang="en-IN" sz="1300" dirty="0"/>
              <a:t> (Python)</a:t>
            </a:r>
          </a:p>
          <a:p>
            <a:r>
              <a:rPr lang="en-IN" sz="1300" dirty="0"/>
              <a:t>Database: SQLite</a:t>
            </a:r>
          </a:p>
          <a:p>
            <a:r>
              <a:rPr lang="en-IN" sz="1300" dirty="0"/>
              <a:t>Authentication: JWT</a:t>
            </a:r>
          </a:p>
          <a:p>
            <a:r>
              <a:rPr lang="en-IN" sz="1300" dirty="0"/>
              <a:t>AI Services: OpenAI APIs</a:t>
            </a:r>
          </a:p>
          <a:p>
            <a:r>
              <a:rPr lang="en-IN" sz="1300" b="1" dirty="0"/>
              <a:t>Deployment Workflow</a:t>
            </a:r>
          </a:p>
          <a:p>
            <a:r>
              <a:rPr lang="en-IN" sz="1300" dirty="0"/>
              <a:t>Install project dependencies.</a:t>
            </a:r>
          </a:p>
          <a:p>
            <a:r>
              <a:rPr lang="en-IN" sz="1300" dirty="0"/>
              <a:t>Configure the .env file with the OpenAI API key.</a:t>
            </a:r>
          </a:p>
          <a:p>
            <a:r>
              <a:rPr lang="en-IN" sz="1300" dirty="0"/>
              <a:t>Start the </a:t>
            </a:r>
            <a:r>
              <a:rPr lang="en-IN" sz="1300" dirty="0" err="1"/>
              <a:t>FastAPI</a:t>
            </a:r>
            <a:r>
              <a:rPr lang="en-IN" sz="1300" dirty="0"/>
              <a:t> server using </a:t>
            </a:r>
            <a:r>
              <a:rPr lang="en-IN" sz="1300" dirty="0" err="1"/>
              <a:t>Uvicorn</a:t>
            </a:r>
            <a:r>
              <a:rPr lang="en-IN" sz="1300" dirty="0"/>
              <a:t>.</a:t>
            </a:r>
          </a:p>
          <a:p>
            <a:r>
              <a:rPr lang="en-IN" sz="1300" dirty="0"/>
              <a:t>Launch the frontend using a local web server.</a:t>
            </a:r>
          </a:p>
          <a:p>
            <a:r>
              <a:rPr lang="en-IN" sz="1300" dirty="0"/>
              <a:t>Access the application through a web browser.</a:t>
            </a:r>
          </a:p>
          <a:p>
            <a:endParaRPr lang="en-IN" sz="1300" dirty="0"/>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3" name="TextBox 2">
            <a:extLst>
              <a:ext uri="{FF2B5EF4-FFF2-40B4-BE49-F238E27FC236}">
                <a16:creationId xmlns:a16="http://schemas.microsoft.com/office/drawing/2014/main" id="{1A2692E5-F7E9-2D9D-0004-78C44C198BF9}"/>
              </a:ext>
            </a:extLst>
          </p:cNvPr>
          <p:cNvSpPr txBox="1"/>
          <p:nvPr/>
        </p:nvSpPr>
        <p:spPr>
          <a:xfrm>
            <a:off x="581192" y="1382286"/>
            <a:ext cx="6853084" cy="4093428"/>
          </a:xfrm>
          <a:prstGeom prst="rect">
            <a:avLst/>
          </a:prstGeom>
          <a:noFill/>
        </p:spPr>
        <p:txBody>
          <a:bodyPr wrap="square" rtlCol="0">
            <a:spAutoFit/>
          </a:bodyPr>
          <a:lstStyle/>
          <a:p>
            <a:endParaRPr lang="en-IN" sz="1300" b="1" dirty="0"/>
          </a:p>
          <a:p>
            <a:r>
              <a:rPr lang="en-IN" sz="1300" b="1" dirty="0"/>
              <a:t>1. Accurate Speech-to-Text Conversion</a:t>
            </a:r>
          </a:p>
          <a:p>
            <a:r>
              <a:rPr lang="en-IN" sz="1300" dirty="0"/>
              <a:t>Successfully converts lecture audio into searchable text transcripts.</a:t>
            </a:r>
          </a:p>
          <a:p>
            <a:r>
              <a:rPr lang="en-IN" sz="1300" b="1" dirty="0"/>
              <a:t>2. AI-Generated Study Notes</a:t>
            </a:r>
          </a:p>
          <a:p>
            <a:r>
              <a:rPr lang="en-IN" sz="1300" dirty="0"/>
              <a:t>Produces concise and well-structured notes highlighting key concepts.</a:t>
            </a:r>
          </a:p>
          <a:p>
            <a:r>
              <a:rPr lang="en-IN" sz="1300" b="1" dirty="0"/>
              <a:t>3. Automatic Quiz Generation</a:t>
            </a:r>
          </a:p>
          <a:p>
            <a:r>
              <a:rPr lang="en-IN" sz="1300" dirty="0"/>
              <a:t>Generates multiple-choice questions for self-assessment and practice.</a:t>
            </a:r>
          </a:p>
          <a:p>
            <a:r>
              <a:rPr lang="en-IN" sz="1300" b="1" dirty="0"/>
              <a:t>4. Flashcard Creation</a:t>
            </a:r>
          </a:p>
          <a:p>
            <a:r>
              <a:rPr lang="en-IN" sz="1300" dirty="0"/>
              <a:t>Creates question-and-answer flashcards for quick revision.</a:t>
            </a:r>
          </a:p>
          <a:p>
            <a:r>
              <a:rPr lang="en-IN" sz="1300" b="1" dirty="0"/>
              <a:t>5. AI-Powered Chat</a:t>
            </a:r>
          </a:p>
          <a:p>
            <a:r>
              <a:rPr lang="en-IN" sz="1300" dirty="0"/>
              <a:t>Answers user queries based on the lecture transcript.</a:t>
            </a:r>
          </a:p>
          <a:p>
            <a:r>
              <a:rPr lang="en-IN" sz="1300" b="1" dirty="0"/>
              <a:t>6. Lecture Management</a:t>
            </a:r>
          </a:p>
          <a:p>
            <a:r>
              <a:rPr lang="en-IN" sz="1300" dirty="0"/>
              <a:t>Stores lecture history, transcripts, notes, quizzes, and flashcards for future access.</a:t>
            </a:r>
          </a:p>
          <a:p>
            <a:r>
              <a:rPr lang="en-IN" sz="1300" b="1" dirty="0"/>
              <a:t>7. Search Functionality</a:t>
            </a:r>
          </a:p>
          <a:p>
            <a:r>
              <a:rPr lang="en-IN" sz="1300" dirty="0"/>
              <a:t>Enables users to search lecture transcripts using keywords.</a:t>
            </a:r>
          </a:p>
          <a:p>
            <a:r>
              <a:rPr lang="en-IN" sz="1300" b="1" dirty="0"/>
              <a:t>8. Improved Learning Experience</a:t>
            </a:r>
          </a:p>
          <a:p>
            <a:r>
              <a:rPr lang="en-IN" sz="1300" dirty="0"/>
              <a:t>Reduces manual note-taking effort.</a:t>
            </a:r>
          </a:p>
          <a:p>
            <a:r>
              <a:rPr lang="en-IN" sz="1300" dirty="0"/>
              <a:t>Saves study time.</a:t>
            </a:r>
          </a:p>
          <a:p>
            <a:r>
              <a:rPr lang="en-IN" sz="1300" dirty="0"/>
              <a:t>Enhances revision and knowledge retention.</a:t>
            </a:r>
          </a:p>
          <a:p>
            <a:endParaRPr lang="en-IN" sz="1300" dirty="0"/>
          </a:p>
        </p:txBody>
      </p:sp>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0" indent="0">
              <a:buNone/>
            </a:pPr>
            <a:endParaRPr lang="en-IN" sz="2000" b="1" dirty="0"/>
          </a:p>
          <a:p>
            <a:r>
              <a:rPr lang="en-IN" sz="2000" dirty="0"/>
              <a:t>The </a:t>
            </a:r>
            <a:r>
              <a:rPr lang="en-IN" sz="2000" b="1" dirty="0"/>
              <a:t>AI Lecture Voice-to-Notes Generator</a:t>
            </a:r>
            <a:r>
              <a:rPr lang="en-IN" sz="2000" dirty="0"/>
              <a:t> successfully addresses the challenges faced by students in traditional note-taking during lectures. By integrating Speech-to-Text technology with Generative AI, the system automates the conversion of lecture audio into structured and meaningful study materials.</a:t>
            </a:r>
          </a:p>
          <a:p>
            <a:r>
              <a:rPr lang="en-IN" sz="2000" dirty="0"/>
              <a:t>The application not only generates accurate transcripts but also provides concise notes, quizzes, and flashcards, enabling students to revise and learn more effectively. The addition of an AI chatbot and search functionality further enhances accessibility and interaction with lecture content.</a:t>
            </a:r>
          </a:p>
          <a:p>
            <a:r>
              <a:rPr lang="en-IN" sz="2000" dirty="0"/>
              <a:t>Overall, this system improves learning efficiency, reduces manual effort, and enhances knowledge retention by providing an intelligent and automated learning support platform.</a:t>
            </a:r>
          </a:p>
          <a:p>
            <a:pPr marL="305435" indent="-305435"/>
            <a:endParaRPr lang="en-IN" sz="2000" dirty="0"/>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2" name="TextBox 1">
            <a:extLst>
              <a:ext uri="{FF2B5EF4-FFF2-40B4-BE49-F238E27FC236}">
                <a16:creationId xmlns:a16="http://schemas.microsoft.com/office/drawing/2014/main" id="{8C6863A6-0C26-5CBC-A4C9-266121F0B851}"/>
              </a:ext>
            </a:extLst>
          </p:cNvPr>
          <p:cNvSpPr txBox="1"/>
          <p:nvPr/>
        </p:nvSpPr>
        <p:spPr>
          <a:xfrm>
            <a:off x="626714" y="1374955"/>
            <a:ext cx="6233694" cy="5293757"/>
          </a:xfrm>
          <a:prstGeom prst="rect">
            <a:avLst/>
          </a:prstGeom>
          <a:noFill/>
        </p:spPr>
        <p:txBody>
          <a:bodyPr wrap="none" rtlCol="0">
            <a:spAutoFit/>
          </a:bodyPr>
          <a:lstStyle/>
          <a:p>
            <a:endParaRPr lang="en-IN" sz="1300" b="1" dirty="0"/>
          </a:p>
          <a:p>
            <a:r>
              <a:rPr lang="en-IN" sz="1300" b="1" dirty="0"/>
              <a:t>1. Real-Time Lecture Processing</a:t>
            </a:r>
          </a:p>
          <a:p>
            <a:r>
              <a:rPr lang="en-IN" sz="1300" dirty="0"/>
              <a:t>Enable live speech-to-text conversion during ongoing lectures.</a:t>
            </a:r>
          </a:p>
          <a:p>
            <a:r>
              <a:rPr lang="en-IN" sz="1300" dirty="0"/>
              <a:t>Provide instant notes while the lecture is being delivered.</a:t>
            </a:r>
          </a:p>
          <a:p>
            <a:r>
              <a:rPr lang="en-IN" sz="1300" b="1" dirty="0"/>
              <a:t>2. Multilingual Support</a:t>
            </a:r>
          </a:p>
          <a:p>
            <a:r>
              <a:rPr lang="en-IN" sz="1300" dirty="0"/>
              <a:t>Extend support for multiple languages and regional accents.</a:t>
            </a:r>
          </a:p>
          <a:p>
            <a:r>
              <a:rPr lang="en-IN" sz="1300" dirty="0"/>
              <a:t>Improve accessibility for diverse student groups.</a:t>
            </a:r>
          </a:p>
          <a:p>
            <a:r>
              <a:rPr lang="en-IN" sz="1300" b="1" dirty="0"/>
              <a:t>3. Mobile Application</a:t>
            </a:r>
          </a:p>
          <a:p>
            <a:r>
              <a:rPr lang="en-IN" sz="1300" dirty="0"/>
              <a:t>Develop Android/iOS apps for easy access on mobile devices.</a:t>
            </a:r>
          </a:p>
          <a:p>
            <a:r>
              <a:rPr lang="en-IN" sz="1300" dirty="0"/>
              <a:t>Allow students to upload and access lectures anytime, anywhere.</a:t>
            </a:r>
          </a:p>
          <a:p>
            <a:r>
              <a:rPr lang="en-IN" sz="1300" b="1" dirty="0"/>
              <a:t>4. Advanced AI Personalization</a:t>
            </a:r>
          </a:p>
          <a:p>
            <a:r>
              <a:rPr lang="en-IN" sz="1300" dirty="0"/>
              <a:t>Generate personalized notes based on student learning patterns.</a:t>
            </a:r>
          </a:p>
          <a:p>
            <a:r>
              <a:rPr lang="en-IN" sz="1300" dirty="0"/>
              <a:t>Adapt quizzes based on performance levels.</a:t>
            </a:r>
          </a:p>
          <a:p>
            <a:r>
              <a:rPr lang="en-IN" sz="1300" b="1" dirty="0"/>
              <a:t>5. Voice-Based AI Assistant</a:t>
            </a:r>
          </a:p>
          <a:p>
            <a:r>
              <a:rPr lang="en-IN" sz="1300" dirty="0"/>
              <a:t>Introduce voice interaction for asking questions and receiving answers.</a:t>
            </a:r>
          </a:p>
          <a:p>
            <a:r>
              <a:rPr lang="en-IN" sz="1300" dirty="0"/>
              <a:t>Hands-free learning experience.</a:t>
            </a:r>
          </a:p>
          <a:p>
            <a:r>
              <a:rPr lang="en-IN" sz="1300" b="1" dirty="0"/>
              <a:t>6. Integration with LMS Platforms</a:t>
            </a:r>
          </a:p>
          <a:p>
            <a:r>
              <a:rPr lang="en-IN" sz="1300" dirty="0"/>
              <a:t>Integrate with Learning Management Systems (LMS) like Moodle or Google Classroom.</a:t>
            </a:r>
          </a:p>
          <a:p>
            <a:r>
              <a:rPr lang="en-IN" sz="1300" dirty="0"/>
              <a:t>Enable direct use in academic institutions.</a:t>
            </a:r>
          </a:p>
          <a:p>
            <a:r>
              <a:rPr lang="en-IN" sz="1300" b="1" dirty="0"/>
              <a:t>7. Cloud Deployment &amp; Scalability</a:t>
            </a:r>
          </a:p>
          <a:p>
            <a:r>
              <a:rPr lang="en-IN" sz="1300" dirty="0"/>
              <a:t>Deploy the system on cloud platforms (AWS, Azure, GCP).</a:t>
            </a:r>
          </a:p>
          <a:p>
            <a:r>
              <a:rPr lang="en-IN" sz="1300" dirty="0"/>
              <a:t>Support large-scale usage for multiple institutions.</a:t>
            </a:r>
          </a:p>
          <a:p>
            <a:r>
              <a:rPr lang="en-IN" sz="1300" b="1" dirty="0"/>
              <a:t>8. Improved Analytics</a:t>
            </a:r>
          </a:p>
          <a:p>
            <a:r>
              <a:rPr lang="en-IN" sz="1300" dirty="0"/>
              <a:t>Track student performance and learning progress.</a:t>
            </a:r>
          </a:p>
          <a:p>
            <a:r>
              <a:rPr lang="en-IN" sz="1300" dirty="0"/>
              <a:t>Provide insights to improve study effectiveness.</a:t>
            </a:r>
          </a:p>
          <a:p>
            <a:endParaRPr lang="en-IN" sz="1300" dirty="0"/>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3" name="TextBox 2">
            <a:extLst>
              <a:ext uri="{FF2B5EF4-FFF2-40B4-BE49-F238E27FC236}">
                <a16:creationId xmlns:a16="http://schemas.microsoft.com/office/drawing/2014/main" id="{A6005B4E-E00E-579A-B2D0-21F7063F82A8}"/>
              </a:ext>
            </a:extLst>
          </p:cNvPr>
          <p:cNvSpPr txBox="1"/>
          <p:nvPr/>
        </p:nvSpPr>
        <p:spPr>
          <a:xfrm>
            <a:off x="581192" y="1379936"/>
            <a:ext cx="4410375" cy="5047536"/>
          </a:xfrm>
          <a:prstGeom prst="rect">
            <a:avLst/>
          </a:prstGeom>
          <a:noFill/>
        </p:spPr>
        <p:txBody>
          <a:bodyPr wrap="none" rtlCol="0">
            <a:spAutoFit/>
          </a:bodyPr>
          <a:lstStyle/>
          <a:p>
            <a:endParaRPr lang="en-IN" sz="1400" b="1" dirty="0"/>
          </a:p>
          <a:p>
            <a:r>
              <a:rPr lang="en-IN" sz="1400" b="1" dirty="0"/>
              <a:t>1. OpenAI Documentation</a:t>
            </a:r>
          </a:p>
          <a:p>
            <a:r>
              <a:rPr lang="en-IN" sz="1400" dirty="0">
                <a:hlinkClick r:id="rId2"/>
              </a:rPr>
              <a:t>https://platform.openai.com/docs</a:t>
            </a:r>
            <a:endParaRPr lang="en-IN" sz="1400" dirty="0"/>
          </a:p>
          <a:p>
            <a:r>
              <a:rPr lang="en-IN" sz="1400" dirty="0"/>
              <a:t>Used for Speech-to-Text and Generative AI integration.</a:t>
            </a:r>
          </a:p>
          <a:p>
            <a:r>
              <a:rPr lang="en-IN" sz="1400" b="1" dirty="0"/>
              <a:t>2. </a:t>
            </a:r>
            <a:r>
              <a:rPr lang="en-IN" sz="1400" b="1" dirty="0" err="1"/>
              <a:t>FastAPI</a:t>
            </a:r>
            <a:r>
              <a:rPr lang="en-IN" sz="1400" b="1" dirty="0"/>
              <a:t> Documentation</a:t>
            </a:r>
          </a:p>
          <a:p>
            <a:r>
              <a:rPr lang="en-IN" sz="1400" dirty="0">
                <a:hlinkClick r:id="rId3"/>
              </a:rPr>
              <a:t>https://fastapi.tiangolo.com/</a:t>
            </a:r>
            <a:endParaRPr lang="en-IN" sz="1400" dirty="0"/>
          </a:p>
          <a:p>
            <a:r>
              <a:rPr lang="en-IN" sz="1400" dirty="0"/>
              <a:t>Used for building high-performance backend APIs.</a:t>
            </a:r>
          </a:p>
          <a:p>
            <a:r>
              <a:rPr lang="en-IN" sz="1400" b="1" dirty="0"/>
              <a:t>3. Python Official Documentation</a:t>
            </a:r>
          </a:p>
          <a:p>
            <a:r>
              <a:rPr lang="en-IN" sz="1400" dirty="0">
                <a:hlinkClick r:id="rId4"/>
              </a:rPr>
              <a:t>https://docs.python.org/3/</a:t>
            </a:r>
            <a:endParaRPr lang="en-IN" sz="1400" dirty="0"/>
          </a:p>
          <a:p>
            <a:r>
              <a:rPr lang="en-IN" sz="1400" dirty="0"/>
              <a:t>Used for backend development and scripting.</a:t>
            </a:r>
          </a:p>
          <a:p>
            <a:r>
              <a:rPr lang="en-IN" sz="1400" b="1" dirty="0"/>
              <a:t>4. JWT Authentication</a:t>
            </a:r>
          </a:p>
          <a:p>
            <a:r>
              <a:rPr lang="en-IN" sz="1400" dirty="0">
                <a:hlinkClick r:id="rId5"/>
              </a:rPr>
              <a:t>https://jwt.io/introduction</a:t>
            </a:r>
            <a:endParaRPr lang="en-IN" sz="1400" dirty="0"/>
          </a:p>
          <a:p>
            <a:r>
              <a:rPr lang="en-IN" sz="1400" dirty="0"/>
              <a:t>Used for secure user authentication and authorization.</a:t>
            </a:r>
          </a:p>
          <a:p>
            <a:r>
              <a:rPr lang="en-IN" sz="1400" b="1" dirty="0"/>
              <a:t>5. SQLite Documentation</a:t>
            </a:r>
          </a:p>
          <a:p>
            <a:r>
              <a:rPr lang="en-IN" sz="1400" dirty="0">
                <a:hlinkClick r:id="rId6"/>
              </a:rPr>
              <a:t>https://www.sqlite.org/docs.html</a:t>
            </a:r>
            <a:endParaRPr lang="en-IN" sz="1400" dirty="0"/>
          </a:p>
          <a:p>
            <a:r>
              <a:rPr lang="en-IN" sz="1400" dirty="0"/>
              <a:t>Used as the database for storing lecture data.</a:t>
            </a:r>
          </a:p>
          <a:p>
            <a:r>
              <a:rPr lang="en-IN" sz="1400" b="1" dirty="0"/>
              <a:t>6. </a:t>
            </a:r>
            <a:r>
              <a:rPr lang="en-IN" sz="1400" b="1" dirty="0" err="1"/>
              <a:t>Uvicorn</a:t>
            </a:r>
            <a:r>
              <a:rPr lang="en-IN" sz="1400" b="1" dirty="0"/>
              <a:t> ASGI Server</a:t>
            </a:r>
          </a:p>
          <a:p>
            <a:r>
              <a:rPr lang="en-IN" sz="1400" dirty="0">
                <a:hlinkClick r:id="rId7"/>
              </a:rPr>
              <a:t>https://www.uvicorn.org/</a:t>
            </a:r>
            <a:endParaRPr lang="en-IN" sz="1400" dirty="0"/>
          </a:p>
          <a:p>
            <a:r>
              <a:rPr lang="en-IN" sz="1400" dirty="0"/>
              <a:t>Used to run the </a:t>
            </a:r>
            <a:r>
              <a:rPr lang="en-IN" sz="1400" dirty="0" err="1"/>
              <a:t>FastAPI</a:t>
            </a:r>
            <a:r>
              <a:rPr lang="en-IN" sz="1400" dirty="0"/>
              <a:t> application.</a:t>
            </a:r>
          </a:p>
          <a:p>
            <a:r>
              <a:rPr lang="en-IN" sz="1400" b="1" dirty="0"/>
              <a:t>7. MDN Web Docs</a:t>
            </a:r>
          </a:p>
          <a:p>
            <a:r>
              <a:rPr lang="en-IN" sz="1400" dirty="0">
                <a:hlinkClick r:id="rId8"/>
              </a:rPr>
              <a:t>https://developer.mozilla.org/</a:t>
            </a:r>
            <a:endParaRPr lang="en-IN" sz="1400" dirty="0"/>
          </a:p>
          <a:p>
            <a:r>
              <a:rPr lang="en-IN" sz="1400" dirty="0"/>
              <a:t>Used for frontend development (HTML, CSS, JavaScript).</a:t>
            </a:r>
          </a:p>
          <a:p>
            <a:endParaRPr lang="en-IN" sz="1400" dirty="0"/>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D7422-ED9D-D856-C6AD-0F1A715C2428}"/>
              </a:ext>
            </a:extLst>
          </p:cNvPr>
          <p:cNvSpPr>
            <a:spLocks noGrp="1"/>
          </p:cNvSpPr>
          <p:nvPr>
            <p:ph type="title"/>
          </p:nvPr>
        </p:nvSpPr>
        <p:spPr/>
        <p:txBody>
          <a:bodyPr/>
          <a:lstStyle/>
          <a:p>
            <a:r>
              <a:rPr lang="en-IN" dirty="0"/>
              <a:t>Deployment link / </a:t>
            </a:r>
            <a:r>
              <a:rPr lang="en-IN" dirty="0" err="1"/>
              <a:t>github</a:t>
            </a:r>
            <a:r>
              <a:rPr lang="en-IN" dirty="0"/>
              <a:t> link</a:t>
            </a:r>
          </a:p>
        </p:txBody>
      </p:sp>
      <p:sp>
        <p:nvSpPr>
          <p:cNvPr id="3" name="Content Placeholder 2">
            <a:extLst>
              <a:ext uri="{FF2B5EF4-FFF2-40B4-BE49-F238E27FC236}">
                <a16:creationId xmlns:a16="http://schemas.microsoft.com/office/drawing/2014/main" id="{618C47C2-EF01-12B0-99EA-861F9629D1D9}"/>
              </a:ext>
            </a:extLst>
          </p:cNvPr>
          <p:cNvSpPr>
            <a:spLocks noGrp="1"/>
          </p:cNvSpPr>
          <p:nvPr>
            <p:ph idx="1"/>
          </p:nvPr>
        </p:nvSpPr>
        <p:spPr/>
        <p:txBody>
          <a:bodyPr/>
          <a:lstStyle/>
          <a:p>
            <a:r>
              <a:rPr lang="en-IN" dirty="0" err="1"/>
              <a:t>Github</a:t>
            </a:r>
            <a:r>
              <a:rPr lang="en-IN" dirty="0"/>
              <a:t> </a:t>
            </a:r>
            <a:r>
              <a:rPr lang="en-IN" dirty="0" err="1"/>
              <a:t>Link:https</a:t>
            </a:r>
            <a:r>
              <a:rPr lang="en-IN" dirty="0"/>
              <a:t>://github.com/Ritikmehta080905/IBM-AI-May-internship</a:t>
            </a:r>
          </a:p>
        </p:txBody>
      </p:sp>
    </p:spTree>
    <p:extLst>
      <p:ext uri="{BB962C8B-B14F-4D97-AF65-F5344CB8AC3E}">
        <p14:creationId xmlns:p14="http://schemas.microsoft.com/office/powerpoint/2010/main" val="258852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111</TotalTime>
  <Words>1266</Words>
  <Application>Microsoft Office PowerPoint</Application>
  <PresentationFormat>Widescreen</PresentationFormat>
  <Paragraphs>174</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Franklin Gothic Book</vt:lpstr>
      <vt:lpstr>Franklin Gothic Demi</vt:lpstr>
      <vt:lpstr>Wingdings 2</vt:lpstr>
      <vt:lpstr>DividendVTI</vt:lpstr>
      <vt:lpstr>PowerPoint Presentation</vt:lpstr>
      <vt:lpstr>OUTLINE</vt:lpstr>
      <vt:lpstr>Problem Statement</vt:lpstr>
      <vt:lpstr>Proposed Solution</vt:lpstr>
      <vt:lpstr>System  Approach</vt:lpstr>
      <vt:lpstr>Algorithm &amp; Deployment</vt:lpstr>
      <vt:lpstr>Result</vt:lpstr>
      <vt:lpstr>Conclusion</vt:lpstr>
      <vt:lpstr>PowerPoint Presentation</vt:lpstr>
      <vt:lpstr>References</vt:lpstr>
      <vt:lpstr>Deployment link / 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Ritik Mehta</cp:lastModifiedBy>
  <cp:revision>21</cp:revision>
  <dcterms:created xsi:type="dcterms:W3CDTF">2021-05-26T16:50:10Z</dcterms:created>
  <dcterms:modified xsi:type="dcterms:W3CDTF">2026-06-26T12:56:36Z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